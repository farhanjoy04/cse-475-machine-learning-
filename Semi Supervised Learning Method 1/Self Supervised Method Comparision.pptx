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bril Fatface" charset="1" panose="020005030000000200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75462" cy="824630"/>
          </a:xfrm>
          <a:custGeom>
            <a:avLst/>
            <a:gdLst/>
            <a:ahLst/>
            <a:cxnLst/>
            <a:rect r="r" b="b" t="t" l="l"/>
            <a:pathLst>
              <a:path h="824630" w="675462">
                <a:moveTo>
                  <a:pt x="0" y="0"/>
                </a:moveTo>
                <a:lnTo>
                  <a:pt x="675462" y="0"/>
                </a:lnTo>
                <a:lnTo>
                  <a:pt x="675462" y="824630"/>
                </a:lnTo>
                <a:lnTo>
                  <a:pt x="0" y="8246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111642">
            <a:off x="11120480" y="1055557"/>
            <a:ext cx="10443683" cy="8487866"/>
          </a:xfrm>
          <a:custGeom>
            <a:avLst/>
            <a:gdLst/>
            <a:ahLst/>
            <a:cxnLst/>
            <a:rect r="r" b="b" t="t" l="l"/>
            <a:pathLst>
              <a:path h="8487866" w="10443683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18441" y="9258300"/>
            <a:ext cx="9727319" cy="3106962"/>
          </a:xfrm>
          <a:custGeom>
            <a:avLst/>
            <a:gdLst/>
            <a:ahLst/>
            <a:cxnLst/>
            <a:rect r="r" b="b" t="t" l="l"/>
            <a:pathLst>
              <a:path h="3106962" w="9727319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6431" y="3952232"/>
            <a:ext cx="14149515" cy="5306068"/>
          </a:xfrm>
          <a:custGeom>
            <a:avLst/>
            <a:gdLst/>
            <a:ahLst/>
            <a:cxnLst/>
            <a:rect r="r" b="b" t="t" l="l"/>
            <a:pathLst>
              <a:path h="5306068" w="14149515">
                <a:moveTo>
                  <a:pt x="0" y="0"/>
                </a:moveTo>
                <a:lnTo>
                  <a:pt x="14149515" y="0"/>
                </a:lnTo>
                <a:lnTo>
                  <a:pt x="14149515" y="5306068"/>
                </a:lnTo>
                <a:lnTo>
                  <a:pt x="0" y="53060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66431" y="1181100"/>
            <a:ext cx="16376921" cy="945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6"/>
              </a:lnSpc>
            </a:pPr>
            <a:r>
              <a:rPr lang="en-US" sz="7248">
                <a:solidFill>
                  <a:srgbClr val="004AAD"/>
                </a:solidFill>
                <a:latin typeface="Abril Fatface"/>
                <a:ea typeface="Abril Fatface"/>
                <a:cs typeface="Abril Fatface"/>
                <a:sym typeface="Abril Fatface"/>
              </a:rPr>
              <a:t>SSL APPROACH COMPARISON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00150"/>
            <a:ext cx="1223023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>
                <a:solidFill>
                  <a:srgbClr val="004AAD"/>
                </a:solidFill>
                <a:latin typeface="Abril Fatface"/>
                <a:ea typeface="Abril Fatface"/>
                <a:cs typeface="Abril Fatface"/>
                <a:sym typeface="Abril Fatface"/>
              </a:rPr>
              <a:t>GROUP MEMBERS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625759">
            <a:off x="10837013" y="-4312634"/>
            <a:ext cx="9495369" cy="7717145"/>
          </a:xfrm>
          <a:custGeom>
            <a:avLst/>
            <a:gdLst/>
            <a:ahLst/>
            <a:cxnLst/>
            <a:rect r="r" b="b" t="t" l="l"/>
            <a:pathLst>
              <a:path h="7717145" w="9495369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448311"/>
            <a:ext cx="11301259" cy="3390378"/>
          </a:xfrm>
          <a:custGeom>
            <a:avLst/>
            <a:gdLst/>
            <a:ahLst/>
            <a:cxnLst/>
            <a:rect r="r" b="b" t="t" l="l"/>
            <a:pathLst>
              <a:path h="3390378" w="11301259">
                <a:moveTo>
                  <a:pt x="0" y="0"/>
                </a:moveTo>
                <a:lnTo>
                  <a:pt x="11301259" y="0"/>
                </a:lnTo>
                <a:lnTo>
                  <a:pt x="11301259" y="3390378"/>
                </a:lnTo>
                <a:lnTo>
                  <a:pt x="0" y="3390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25759">
            <a:off x="7878598" y="2149852"/>
            <a:ext cx="10884489" cy="8846121"/>
          </a:xfrm>
          <a:custGeom>
            <a:avLst/>
            <a:gdLst/>
            <a:ahLst/>
            <a:cxnLst/>
            <a:rect r="r" b="b" t="t" l="l"/>
            <a:pathLst>
              <a:path h="8846121" w="10884489">
                <a:moveTo>
                  <a:pt x="0" y="0"/>
                </a:moveTo>
                <a:lnTo>
                  <a:pt x="10884489" y="0"/>
                </a:lnTo>
                <a:lnTo>
                  <a:pt x="10884489" y="8846120"/>
                </a:lnTo>
                <a:lnTo>
                  <a:pt x="0" y="8846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21833" y="1028700"/>
            <a:ext cx="4666167" cy="2624719"/>
          </a:xfrm>
          <a:custGeom>
            <a:avLst/>
            <a:gdLst/>
            <a:ahLst/>
            <a:cxnLst/>
            <a:rect r="r" b="b" t="t" l="l"/>
            <a:pathLst>
              <a:path h="2624719" w="4666167">
                <a:moveTo>
                  <a:pt x="0" y="0"/>
                </a:moveTo>
                <a:lnTo>
                  <a:pt x="4666167" y="0"/>
                </a:lnTo>
                <a:lnTo>
                  <a:pt x="4666167" y="2624719"/>
                </a:lnTo>
                <a:lnTo>
                  <a:pt x="0" y="26247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21833" y="3990347"/>
            <a:ext cx="4666167" cy="2771861"/>
          </a:xfrm>
          <a:custGeom>
            <a:avLst/>
            <a:gdLst/>
            <a:ahLst/>
            <a:cxnLst/>
            <a:rect r="r" b="b" t="t" l="l"/>
            <a:pathLst>
              <a:path h="2771861" w="4666167">
                <a:moveTo>
                  <a:pt x="0" y="0"/>
                </a:moveTo>
                <a:lnTo>
                  <a:pt x="4666167" y="0"/>
                </a:lnTo>
                <a:lnTo>
                  <a:pt x="4666167" y="2771861"/>
                </a:lnTo>
                <a:lnTo>
                  <a:pt x="0" y="27718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0360" r="0" b="-602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80208" y="7095583"/>
            <a:ext cx="4239546" cy="1580749"/>
          </a:xfrm>
          <a:custGeom>
            <a:avLst/>
            <a:gdLst/>
            <a:ahLst/>
            <a:cxnLst/>
            <a:rect r="r" b="b" t="t" l="l"/>
            <a:pathLst>
              <a:path h="1580749" w="4239546">
                <a:moveTo>
                  <a:pt x="0" y="0"/>
                </a:moveTo>
                <a:lnTo>
                  <a:pt x="4239546" y="0"/>
                </a:lnTo>
                <a:lnTo>
                  <a:pt x="4239546" y="1580749"/>
                </a:lnTo>
                <a:lnTo>
                  <a:pt x="0" y="15807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148" r="0" b="-514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21099" y="251708"/>
            <a:ext cx="17259300" cy="727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>
                <a:solidFill>
                  <a:srgbClr val="004AAD"/>
                </a:solidFill>
                <a:latin typeface="Abril Fatface"/>
                <a:ea typeface="Abril Fatface"/>
                <a:cs typeface="Abril Fatface"/>
                <a:sym typeface="Abril Fatface"/>
              </a:rPr>
              <a:t>BYOL (BRING YOUR OWN LICENSE)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2982185"/>
            <a:ext cx="12163994" cy="3605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4093" indent="-222046" lvl="1">
              <a:lnSpc>
                <a:spcPts val="2879"/>
              </a:lnSpc>
              <a:buFont typeface="Arial"/>
              <a:buChar char="•"/>
            </a:pPr>
            <a:r>
              <a:rPr lang="en-US" sz="2056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BYOL stands for “Bootstrap Your Own Latent,” a self-supervised learning method.</a:t>
            </a:r>
          </a:p>
          <a:p>
            <a:pPr algn="l">
              <a:lnSpc>
                <a:spcPts val="2879"/>
              </a:lnSpc>
            </a:pPr>
          </a:p>
          <a:p>
            <a:pPr algn="l" marL="444093" indent="-222046" lvl="1">
              <a:lnSpc>
                <a:spcPts val="2879"/>
              </a:lnSpc>
              <a:buFont typeface="Arial"/>
              <a:buChar char="•"/>
            </a:pPr>
            <a:r>
              <a:rPr lang="en-US" sz="2056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It learns image representations without using labels.</a:t>
            </a:r>
          </a:p>
          <a:p>
            <a:pPr algn="l">
              <a:lnSpc>
                <a:spcPts val="2879"/>
              </a:lnSpc>
            </a:pPr>
          </a:p>
          <a:p>
            <a:pPr algn="l" marL="444093" indent="-222046" lvl="1">
              <a:lnSpc>
                <a:spcPts val="2879"/>
              </a:lnSpc>
              <a:buFont typeface="Arial"/>
              <a:buChar char="•"/>
            </a:pPr>
            <a:r>
              <a:rPr lang="en-US" sz="2056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BYOL uses two neural networks: an online network and a target network.</a:t>
            </a:r>
          </a:p>
          <a:p>
            <a:pPr algn="l">
              <a:lnSpc>
                <a:spcPts val="2879"/>
              </a:lnSpc>
            </a:pPr>
          </a:p>
          <a:p>
            <a:pPr algn="l" marL="444093" indent="-222046" lvl="1">
              <a:lnSpc>
                <a:spcPts val="2879"/>
              </a:lnSpc>
              <a:buFont typeface="Arial"/>
              <a:buChar char="•"/>
            </a:pPr>
            <a:r>
              <a:rPr lang="en-US" sz="2056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It avoids negative pairs, unlike contrastive learning methods.</a:t>
            </a:r>
          </a:p>
          <a:p>
            <a:pPr algn="l">
              <a:lnSpc>
                <a:spcPts val="2879"/>
              </a:lnSpc>
            </a:pPr>
          </a:p>
          <a:p>
            <a:pPr algn="l" marL="444093" indent="-222046" lvl="1">
              <a:lnSpc>
                <a:spcPts val="2879"/>
              </a:lnSpc>
              <a:buFont typeface="Arial"/>
              <a:buChar char="•"/>
            </a:pPr>
            <a:r>
              <a:rPr lang="en-US" sz="2056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BYOL achieves strong performance using only positive sample predictions.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85749">
            <a:off x="-6314094" y="-4251521"/>
            <a:ext cx="14345355" cy="14345355"/>
          </a:xfrm>
          <a:custGeom>
            <a:avLst/>
            <a:gdLst/>
            <a:ahLst/>
            <a:cxnLst/>
            <a:rect r="r" b="b" t="t" l="l"/>
            <a:pathLst>
              <a:path h="14345355" w="14345355">
                <a:moveTo>
                  <a:pt x="0" y="0"/>
                </a:moveTo>
                <a:lnTo>
                  <a:pt x="14345356" y="0"/>
                </a:lnTo>
                <a:lnTo>
                  <a:pt x="14345356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799293">
            <a:off x="12170918" y="-745657"/>
            <a:ext cx="6885296" cy="11055409"/>
          </a:xfrm>
          <a:custGeom>
            <a:avLst/>
            <a:gdLst/>
            <a:ahLst/>
            <a:cxnLst/>
            <a:rect r="r" b="b" t="t" l="l"/>
            <a:pathLst>
              <a:path h="11055409" w="6885296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69755" y="815267"/>
            <a:ext cx="6218245" cy="3122003"/>
          </a:xfrm>
          <a:custGeom>
            <a:avLst/>
            <a:gdLst/>
            <a:ahLst/>
            <a:cxnLst/>
            <a:rect r="r" b="b" t="t" l="l"/>
            <a:pathLst>
              <a:path h="3122003" w="6218245">
                <a:moveTo>
                  <a:pt x="0" y="0"/>
                </a:moveTo>
                <a:lnTo>
                  <a:pt x="6218245" y="0"/>
                </a:lnTo>
                <a:lnTo>
                  <a:pt x="6218245" y="3122003"/>
                </a:lnTo>
                <a:lnTo>
                  <a:pt x="0" y="31220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375" t="0" r="-437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65832" y="4374992"/>
            <a:ext cx="6622168" cy="2646327"/>
          </a:xfrm>
          <a:custGeom>
            <a:avLst/>
            <a:gdLst/>
            <a:ahLst/>
            <a:cxnLst/>
            <a:rect r="r" b="b" t="t" l="l"/>
            <a:pathLst>
              <a:path h="2646327" w="6622168">
                <a:moveTo>
                  <a:pt x="0" y="0"/>
                </a:moveTo>
                <a:lnTo>
                  <a:pt x="6622168" y="0"/>
                </a:lnTo>
                <a:lnTo>
                  <a:pt x="6622168" y="2646327"/>
                </a:lnTo>
                <a:lnTo>
                  <a:pt x="0" y="26463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517" r="0" b="-51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69755" y="7021319"/>
            <a:ext cx="6049711" cy="3072869"/>
          </a:xfrm>
          <a:custGeom>
            <a:avLst/>
            <a:gdLst/>
            <a:ahLst/>
            <a:cxnLst/>
            <a:rect r="r" b="b" t="t" l="l"/>
            <a:pathLst>
              <a:path h="3072869" w="6049711">
                <a:moveTo>
                  <a:pt x="0" y="0"/>
                </a:moveTo>
                <a:lnTo>
                  <a:pt x="6049712" y="0"/>
                </a:lnTo>
                <a:lnTo>
                  <a:pt x="6049712" y="3072869"/>
                </a:lnTo>
                <a:lnTo>
                  <a:pt x="0" y="30728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15499" y="-104775"/>
            <a:ext cx="14644970" cy="920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4"/>
              </a:lnSpc>
              <a:spcBef>
                <a:spcPct val="0"/>
              </a:spcBef>
            </a:pPr>
            <a:r>
              <a:rPr lang="en-US" sz="5402">
                <a:solidFill>
                  <a:srgbClr val="004AAD"/>
                </a:solidFill>
                <a:latin typeface="Abril Fatface"/>
                <a:ea typeface="Abril Fatface"/>
                <a:cs typeface="Abril Fatface"/>
                <a:sym typeface="Abril Fatface"/>
              </a:rPr>
              <a:t>BYOL 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1600" y="2044908"/>
            <a:ext cx="10181258" cy="639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BYOL: Self-supervised learning without labels or negative pairs</a:t>
            </a:r>
          </a:p>
          <a:p>
            <a:pPr algn="l">
              <a:lnSpc>
                <a:spcPts val="3219"/>
              </a:lnSpc>
            </a:pP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Uses Online and Target networks (same architecture)</a:t>
            </a:r>
          </a:p>
          <a:p>
            <a:pPr algn="l">
              <a:lnSpc>
                <a:spcPts val="3219"/>
              </a:lnSpc>
            </a:pP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Target network updated slowly via EMA</a:t>
            </a:r>
          </a:p>
          <a:p>
            <a:pPr algn="l">
              <a:lnSpc>
                <a:spcPts val="3219"/>
              </a:lnSpc>
            </a:pP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Two random augmentations of same image → View₁ &amp; View₂</a:t>
            </a:r>
          </a:p>
          <a:p>
            <a:pPr algn="l">
              <a:lnSpc>
                <a:spcPts val="3219"/>
              </a:lnSpc>
            </a:pP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Online branch has extra predictor MLP</a:t>
            </a:r>
          </a:p>
          <a:p>
            <a:pPr algn="l">
              <a:lnSpc>
                <a:spcPts val="3219"/>
              </a:lnSpc>
            </a:pP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Loss: Predict target projection from online view (L2 after normalization)</a:t>
            </a:r>
          </a:p>
          <a:p>
            <a:pPr algn="l">
              <a:lnSpc>
                <a:spcPts val="3219"/>
              </a:lnSpc>
            </a:pP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Symmetrized loss + stop-gradient on target branch</a:t>
            </a:r>
          </a:p>
          <a:p>
            <a:pPr algn="l">
              <a:lnSpc>
                <a:spcPts val="3219"/>
              </a:lnSpc>
            </a:pP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Trains only online network; target follows slowly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664043">
            <a:off x="-4052117" y="-737535"/>
            <a:ext cx="11511802" cy="11511802"/>
          </a:xfrm>
          <a:custGeom>
            <a:avLst/>
            <a:gdLst/>
            <a:ahLst/>
            <a:cxnLst/>
            <a:rect r="r" b="b" t="t" l="l"/>
            <a:pathLst>
              <a:path h="11511802" w="11511802">
                <a:moveTo>
                  <a:pt x="0" y="0"/>
                </a:moveTo>
                <a:lnTo>
                  <a:pt x="11511802" y="0"/>
                </a:lnTo>
                <a:lnTo>
                  <a:pt x="11511802" y="11511802"/>
                </a:lnTo>
                <a:lnTo>
                  <a:pt x="0" y="11511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284008">
            <a:off x="12761683" y="7147182"/>
            <a:ext cx="4789367" cy="7690070"/>
          </a:xfrm>
          <a:custGeom>
            <a:avLst/>
            <a:gdLst/>
            <a:ahLst/>
            <a:cxnLst/>
            <a:rect r="r" b="b" t="t" l="l"/>
            <a:pathLst>
              <a:path h="7690070" w="4789367">
                <a:moveTo>
                  <a:pt x="0" y="0"/>
                </a:moveTo>
                <a:lnTo>
                  <a:pt x="4789367" y="0"/>
                </a:lnTo>
                <a:lnTo>
                  <a:pt x="4789367" y="7690070"/>
                </a:lnTo>
                <a:lnTo>
                  <a:pt x="0" y="76900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55316" y="300990"/>
            <a:ext cx="6485068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>
                <a:solidFill>
                  <a:srgbClr val="004AAD"/>
                </a:solidFill>
                <a:latin typeface="Abril Fatface"/>
                <a:ea typeface="Abril Fatface"/>
                <a:cs typeface="Abril Fatface"/>
                <a:sym typeface="Abril Fatface"/>
              </a:rPr>
              <a:t> WHY BYOL?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505868">
            <a:off x="9245019" y="-4340343"/>
            <a:ext cx="12580534" cy="8680686"/>
          </a:xfrm>
          <a:custGeom>
            <a:avLst/>
            <a:gdLst/>
            <a:ahLst/>
            <a:cxnLst/>
            <a:rect r="r" b="b" t="t" l="l"/>
            <a:pathLst>
              <a:path h="8680686" w="12580534">
                <a:moveTo>
                  <a:pt x="0" y="0"/>
                </a:moveTo>
                <a:lnTo>
                  <a:pt x="12580534" y="0"/>
                </a:lnTo>
                <a:lnTo>
                  <a:pt x="12580534" y="8680686"/>
                </a:lnTo>
                <a:lnTo>
                  <a:pt x="0" y="86806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26161" y="1554741"/>
            <a:ext cx="4433139" cy="6555473"/>
          </a:xfrm>
          <a:custGeom>
            <a:avLst/>
            <a:gdLst/>
            <a:ahLst/>
            <a:cxnLst/>
            <a:rect r="r" b="b" t="t" l="l"/>
            <a:pathLst>
              <a:path h="6555473" w="4433139">
                <a:moveTo>
                  <a:pt x="0" y="0"/>
                </a:moveTo>
                <a:lnTo>
                  <a:pt x="4433139" y="0"/>
                </a:lnTo>
                <a:lnTo>
                  <a:pt x="4433139" y="6555473"/>
                </a:lnTo>
                <a:lnTo>
                  <a:pt x="0" y="65554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1778" y="1516641"/>
            <a:ext cx="9315909" cy="544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Severe class imbalance &amp; scarce labels → BYOL needs zero labels</a:t>
            </a:r>
          </a:p>
          <a:p>
            <a:pPr algn="l">
              <a:lnSpc>
                <a:spcPts val="3079"/>
              </a:lnSpc>
            </a:pP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Brain MRIs vary in intensity but share anatomy → BYOL builds augmentation-invariant robust features</a:t>
            </a:r>
          </a:p>
          <a:p>
            <a:pPr algn="l">
              <a:lnSpc>
                <a:spcPts val="3079"/>
              </a:lnSpc>
            </a:pP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Rare AD cases → BYOL skips negative sampling bias that harms contrastive methods</a:t>
            </a:r>
          </a:p>
          <a:p>
            <a:pPr algn="l">
              <a:lnSpc>
                <a:spcPts val="3079"/>
              </a:lnSpc>
            </a:pP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Predictor + target asymmetry stops collapse → stable training on similar normal (CN) scans</a:t>
            </a:r>
          </a:p>
          <a:p>
            <a:pPr algn="l">
              <a:lnSpc>
                <a:spcPts val="3079"/>
              </a:lnSpc>
            </a:pP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Multiple studies show BYOL outperforms on MRI/CT → best downstream accuracy with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525861">
            <a:off x="8777887" y="-2612009"/>
            <a:ext cx="13709384" cy="13709384"/>
          </a:xfrm>
          <a:custGeom>
            <a:avLst/>
            <a:gdLst/>
            <a:ahLst/>
            <a:cxnLst/>
            <a:rect r="r" b="b" t="t" l="l"/>
            <a:pathLst>
              <a:path h="13709384" w="13709384">
                <a:moveTo>
                  <a:pt x="0" y="0"/>
                </a:moveTo>
                <a:lnTo>
                  <a:pt x="13709384" y="0"/>
                </a:lnTo>
                <a:lnTo>
                  <a:pt x="13709384" y="13709384"/>
                </a:lnTo>
                <a:lnTo>
                  <a:pt x="0" y="13709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8532740">
            <a:off x="-2703495" y="7048838"/>
            <a:ext cx="6729406" cy="5469172"/>
          </a:xfrm>
          <a:custGeom>
            <a:avLst/>
            <a:gdLst/>
            <a:ahLst/>
            <a:cxnLst/>
            <a:rect r="r" b="b" t="t" l="l"/>
            <a:pathLst>
              <a:path h="5469172" w="6729406">
                <a:moveTo>
                  <a:pt x="6729406" y="0"/>
                </a:moveTo>
                <a:lnTo>
                  <a:pt x="0" y="0"/>
                </a:lnTo>
                <a:lnTo>
                  <a:pt x="0" y="5469172"/>
                </a:lnTo>
                <a:lnTo>
                  <a:pt x="6729406" y="5469172"/>
                </a:lnTo>
                <a:lnTo>
                  <a:pt x="6729406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23548" y="1334422"/>
            <a:ext cx="5520702" cy="1942469"/>
          </a:xfrm>
          <a:custGeom>
            <a:avLst/>
            <a:gdLst/>
            <a:ahLst/>
            <a:cxnLst/>
            <a:rect r="r" b="b" t="t" l="l"/>
            <a:pathLst>
              <a:path h="1942469" w="5520702">
                <a:moveTo>
                  <a:pt x="0" y="0"/>
                </a:moveTo>
                <a:lnTo>
                  <a:pt x="5520702" y="0"/>
                </a:lnTo>
                <a:lnTo>
                  <a:pt x="5520702" y="1942469"/>
                </a:lnTo>
                <a:lnTo>
                  <a:pt x="0" y="1942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23548" y="3419766"/>
            <a:ext cx="5660785" cy="3058837"/>
          </a:xfrm>
          <a:custGeom>
            <a:avLst/>
            <a:gdLst/>
            <a:ahLst/>
            <a:cxnLst/>
            <a:rect r="r" b="b" t="t" l="l"/>
            <a:pathLst>
              <a:path h="3058837" w="5660785">
                <a:moveTo>
                  <a:pt x="0" y="0"/>
                </a:moveTo>
                <a:lnTo>
                  <a:pt x="5660785" y="0"/>
                </a:lnTo>
                <a:lnTo>
                  <a:pt x="5660785" y="3058837"/>
                </a:lnTo>
                <a:lnTo>
                  <a:pt x="0" y="30588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523548" y="6621478"/>
            <a:ext cx="5660785" cy="2830393"/>
          </a:xfrm>
          <a:custGeom>
            <a:avLst/>
            <a:gdLst/>
            <a:ahLst/>
            <a:cxnLst/>
            <a:rect r="r" b="b" t="t" l="l"/>
            <a:pathLst>
              <a:path h="2830393" w="5660785">
                <a:moveTo>
                  <a:pt x="0" y="0"/>
                </a:moveTo>
                <a:lnTo>
                  <a:pt x="5660785" y="0"/>
                </a:lnTo>
                <a:lnTo>
                  <a:pt x="5660785" y="2830393"/>
                </a:lnTo>
                <a:lnTo>
                  <a:pt x="0" y="28303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87532" y="461528"/>
            <a:ext cx="9351089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>
                <a:solidFill>
                  <a:srgbClr val="004AAD"/>
                </a:solidFill>
                <a:latin typeface="Abril Fatface"/>
                <a:ea typeface="Abril Fatface"/>
                <a:cs typeface="Abril Fatface"/>
                <a:sym typeface="Abril Fatface"/>
              </a:rPr>
              <a:t>SIMSIAM(SIMPLE SIAMESE)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1625" y="2963924"/>
            <a:ext cx="9351089" cy="3975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SimSiam: Simple Siamese self-supervised learning</a:t>
            </a:r>
          </a:p>
          <a:p>
            <a:pPr algn="l">
              <a:lnSpc>
                <a:spcPts val="3200"/>
              </a:lnSpc>
            </a:pPr>
          </a:p>
          <a:p>
            <a:pPr algn="l" marL="431802" indent="-215901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No negative pairs, no momentum encoder</a:t>
            </a:r>
          </a:p>
          <a:p>
            <a:pPr algn="l">
              <a:lnSpc>
                <a:spcPts val="3200"/>
              </a:lnSpc>
            </a:pPr>
          </a:p>
          <a:p>
            <a:pPr algn="l" marL="431802" indent="-215901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Twin networks with shared weights + stop-gradient</a:t>
            </a:r>
          </a:p>
          <a:p>
            <a:pPr algn="l">
              <a:lnSpc>
                <a:spcPts val="3200"/>
              </a:lnSpc>
            </a:pPr>
          </a:p>
          <a:p>
            <a:pPr algn="l" marL="431802" indent="-215901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Predictor MLP in one branch prevents collapse</a:t>
            </a:r>
          </a:p>
          <a:p>
            <a:pPr algn="l">
              <a:lnSpc>
                <a:spcPts val="3200"/>
              </a:lnSpc>
            </a:pPr>
          </a:p>
          <a:p>
            <a:pPr algn="l" marL="431802" indent="-215901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Minimizes cosine distance between two augmented views</a:t>
            </a:r>
          </a:p>
          <a:p>
            <a:pPr algn="l">
              <a:lnSpc>
                <a:spcPts val="3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08728">
            <a:off x="6539156" y="-3842178"/>
            <a:ext cx="15887340" cy="15887340"/>
          </a:xfrm>
          <a:custGeom>
            <a:avLst/>
            <a:gdLst/>
            <a:ahLst/>
            <a:cxnLst/>
            <a:rect r="r" b="b" t="t" l="l"/>
            <a:pathLst>
              <a:path h="15887340" w="15887340">
                <a:moveTo>
                  <a:pt x="0" y="0"/>
                </a:moveTo>
                <a:lnTo>
                  <a:pt x="15887341" y="0"/>
                </a:lnTo>
                <a:lnTo>
                  <a:pt x="15887341" y="15887341"/>
                </a:lnTo>
                <a:lnTo>
                  <a:pt x="0" y="15887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148401">
            <a:off x="15297701" y="384797"/>
            <a:ext cx="6729406" cy="5469172"/>
          </a:xfrm>
          <a:custGeom>
            <a:avLst/>
            <a:gdLst/>
            <a:ahLst/>
            <a:cxnLst/>
            <a:rect r="r" b="b" t="t" l="l"/>
            <a:pathLst>
              <a:path h="5469172" w="6729406">
                <a:moveTo>
                  <a:pt x="6729406" y="0"/>
                </a:moveTo>
                <a:lnTo>
                  <a:pt x="0" y="0"/>
                </a:lnTo>
                <a:lnTo>
                  <a:pt x="0" y="5469172"/>
                </a:lnTo>
                <a:lnTo>
                  <a:pt x="6729406" y="5469172"/>
                </a:lnTo>
                <a:lnTo>
                  <a:pt x="67294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82301">
            <a:off x="-5072607" y="6650746"/>
            <a:ext cx="11928886" cy="8231043"/>
          </a:xfrm>
          <a:custGeom>
            <a:avLst/>
            <a:gdLst/>
            <a:ahLst/>
            <a:cxnLst/>
            <a:rect r="r" b="b" t="t" l="l"/>
            <a:pathLst>
              <a:path h="8231043" w="11928886">
                <a:moveTo>
                  <a:pt x="0" y="0"/>
                </a:moveTo>
                <a:lnTo>
                  <a:pt x="11928886" y="0"/>
                </a:lnTo>
                <a:lnTo>
                  <a:pt x="11928886" y="8231043"/>
                </a:lnTo>
                <a:lnTo>
                  <a:pt x="0" y="82310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57510" y="1149039"/>
            <a:ext cx="5650629" cy="2952454"/>
          </a:xfrm>
          <a:custGeom>
            <a:avLst/>
            <a:gdLst/>
            <a:ahLst/>
            <a:cxnLst/>
            <a:rect r="r" b="b" t="t" l="l"/>
            <a:pathLst>
              <a:path h="2952454" w="5650629">
                <a:moveTo>
                  <a:pt x="0" y="0"/>
                </a:moveTo>
                <a:lnTo>
                  <a:pt x="5650630" y="0"/>
                </a:lnTo>
                <a:lnTo>
                  <a:pt x="5650630" y="2952454"/>
                </a:lnTo>
                <a:lnTo>
                  <a:pt x="0" y="29524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220172" y="4356153"/>
            <a:ext cx="5925307" cy="1897101"/>
          </a:xfrm>
          <a:custGeom>
            <a:avLst/>
            <a:gdLst/>
            <a:ahLst/>
            <a:cxnLst/>
            <a:rect r="r" b="b" t="t" l="l"/>
            <a:pathLst>
              <a:path h="1897101" w="5925307">
                <a:moveTo>
                  <a:pt x="0" y="0"/>
                </a:moveTo>
                <a:lnTo>
                  <a:pt x="5925306" y="0"/>
                </a:lnTo>
                <a:lnTo>
                  <a:pt x="5925306" y="1897101"/>
                </a:lnTo>
                <a:lnTo>
                  <a:pt x="0" y="18971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20172" y="6510429"/>
            <a:ext cx="6684030" cy="2155600"/>
          </a:xfrm>
          <a:custGeom>
            <a:avLst/>
            <a:gdLst/>
            <a:ahLst/>
            <a:cxnLst/>
            <a:rect r="r" b="b" t="t" l="l"/>
            <a:pathLst>
              <a:path h="2155600" w="6684030">
                <a:moveTo>
                  <a:pt x="0" y="0"/>
                </a:moveTo>
                <a:lnTo>
                  <a:pt x="6684030" y="0"/>
                </a:lnTo>
                <a:lnTo>
                  <a:pt x="6684030" y="2155599"/>
                </a:lnTo>
                <a:lnTo>
                  <a:pt x="0" y="21555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808404" y="337392"/>
            <a:ext cx="10510081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>
                <a:solidFill>
                  <a:srgbClr val="004AAD"/>
                </a:solidFill>
                <a:latin typeface="Abril Fatface"/>
                <a:ea typeface="Abril Fatface"/>
                <a:cs typeface="Abril Fatface"/>
                <a:sym typeface="Abril Fatface"/>
              </a:rPr>
              <a:t> SIMSIAM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0931" y="1927225"/>
            <a:ext cx="9673201" cy="5864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97419" indent="-198710" lvl="1">
              <a:lnSpc>
                <a:spcPts val="2945"/>
              </a:lnSpc>
              <a:buFont typeface="Arial"/>
              <a:buChar char="•"/>
            </a:pPr>
            <a:r>
              <a:rPr lang="en-US" sz="1840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SimSiam: Self-supervised, no negatives, no momentum</a:t>
            </a:r>
          </a:p>
          <a:p>
            <a:pPr algn="just">
              <a:lnSpc>
                <a:spcPts val="2945"/>
              </a:lnSpc>
            </a:pPr>
          </a:p>
          <a:p>
            <a:pPr algn="just" marL="397419" indent="-198710" lvl="1">
              <a:lnSpc>
                <a:spcPts val="2945"/>
              </a:lnSpc>
              <a:buFont typeface="Arial"/>
              <a:buChar char="•"/>
            </a:pPr>
            <a:r>
              <a:rPr lang="en-US" sz="1840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Two identical networks with shared weights</a:t>
            </a:r>
          </a:p>
          <a:p>
            <a:pPr algn="just">
              <a:lnSpc>
                <a:spcPts val="2945"/>
              </a:lnSpc>
            </a:pPr>
          </a:p>
          <a:p>
            <a:pPr algn="just" marL="397419" indent="-198710" lvl="1">
              <a:lnSpc>
                <a:spcPts val="2945"/>
              </a:lnSpc>
              <a:buFont typeface="Arial"/>
              <a:buChar char="•"/>
            </a:pPr>
            <a:r>
              <a:rPr lang="en-US" sz="1840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One branch uses stop-gradient, other has predictor MLP</a:t>
            </a:r>
          </a:p>
          <a:p>
            <a:pPr algn="just">
              <a:lnSpc>
                <a:spcPts val="2945"/>
              </a:lnSpc>
            </a:pPr>
          </a:p>
          <a:p>
            <a:pPr algn="just" marL="397419" indent="-198710" lvl="1">
              <a:lnSpc>
                <a:spcPts val="2945"/>
              </a:lnSpc>
              <a:buFont typeface="Arial"/>
              <a:buChar char="•"/>
            </a:pPr>
            <a:r>
              <a:rPr lang="en-US" sz="1840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Applies two random augmentations to same image</a:t>
            </a:r>
          </a:p>
          <a:p>
            <a:pPr algn="just">
              <a:lnSpc>
                <a:spcPts val="2945"/>
              </a:lnSpc>
            </a:pPr>
          </a:p>
          <a:p>
            <a:pPr algn="just" marL="397419" indent="-198710" lvl="1">
              <a:lnSpc>
                <a:spcPts val="2945"/>
              </a:lnSpc>
              <a:buFont typeface="Arial"/>
              <a:buChar char="•"/>
            </a:pPr>
            <a:r>
              <a:rPr lang="en-US" sz="1840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Predicts output of one view from the other</a:t>
            </a:r>
          </a:p>
          <a:p>
            <a:pPr algn="just">
              <a:lnSpc>
                <a:spcPts val="2945"/>
              </a:lnSpc>
            </a:pPr>
          </a:p>
          <a:p>
            <a:pPr algn="just" marL="397419" indent="-198710" lvl="1">
              <a:lnSpc>
                <a:spcPts val="2945"/>
              </a:lnSpc>
              <a:buFont typeface="Arial"/>
              <a:buChar char="•"/>
            </a:pPr>
            <a:r>
              <a:rPr lang="en-US" sz="1840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Loss: negative cosine similarity (normalized + stop-grad)</a:t>
            </a:r>
          </a:p>
          <a:p>
            <a:pPr algn="just">
              <a:lnSpc>
                <a:spcPts val="2945"/>
              </a:lnSpc>
            </a:pPr>
          </a:p>
          <a:p>
            <a:pPr algn="just" marL="397419" indent="-198710" lvl="1">
              <a:lnSpc>
                <a:spcPts val="2945"/>
              </a:lnSpc>
              <a:buFont typeface="Arial"/>
              <a:buChar char="•"/>
            </a:pPr>
            <a:r>
              <a:rPr lang="en-US" sz="1840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Predictor + stop-gradient prevents collapsing</a:t>
            </a:r>
          </a:p>
          <a:p>
            <a:pPr algn="just">
              <a:lnSpc>
                <a:spcPts val="2945"/>
              </a:lnSpc>
            </a:pPr>
          </a:p>
          <a:p>
            <a:pPr algn="just" marL="397419" indent="-198710" lvl="1">
              <a:lnSpc>
                <a:spcPts val="2945"/>
              </a:lnSpc>
              <a:buFont typeface="Arial"/>
              <a:buChar char="•"/>
            </a:pPr>
            <a:r>
              <a:rPr lang="en-US" sz="1840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Extremely simple yet highly effective pretraining</a:t>
            </a:r>
          </a:p>
          <a:p>
            <a:pPr algn="just">
              <a:lnSpc>
                <a:spcPts val="294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073461">
            <a:off x="-10431493" y="-5076589"/>
            <a:ext cx="17617704" cy="17617704"/>
          </a:xfrm>
          <a:custGeom>
            <a:avLst/>
            <a:gdLst/>
            <a:ahLst/>
            <a:cxnLst/>
            <a:rect r="r" b="b" t="t" l="l"/>
            <a:pathLst>
              <a:path h="17617704" w="17617704">
                <a:moveTo>
                  <a:pt x="0" y="0"/>
                </a:moveTo>
                <a:lnTo>
                  <a:pt x="17617704" y="0"/>
                </a:lnTo>
                <a:lnTo>
                  <a:pt x="17617704" y="17617703"/>
                </a:lnTo>
                <a:lnTo>
                  <a:pt x="0" y="176177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08595" y="712470"/>
            <a:ext cx="11781549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>
                <a:solidFill>
                  <a:srgbClr val="004AAD"/>
                </a:solidFill>
                <a:latin typeface="Abril Fatface"/>
                <a:ea typeface="Abril Fatface"/>
                <a:cs typeface="Abril Fatface"/>
                <a:sym typeface="Abril Fatface"/>
              </a:rPr>
              <a:t>WHY SIMSIAM?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-5400000">
            <a:off x="8778703" y="-4549008"/>
            <a:ext cx="8063091" cy="6553094"/>
          </a:xfrm>
          <a:custGeom>
            <a:avLst/>
            <a:gdLst/>
            <a:ahLst/>
            <a:cxnLst/>
            <a:rect r="r" b="b" t="t" l="l"/>
            <a:pathLst>
              <a:path h="6553094" w="8063091">
                <a:moveTo>
                  <a:pt x="8063091" y="0"/>
                </a:moveTo>
                <a:lnTo>
                  <a:pt x="0" y="0"/>
                </a:lnTo>
                <a:lnTo>
                  <a:pt x="0" y="6553094"/>
                </a:lnTo>
                <a:lnTo>
                  <a:pt x="8063091" y="6553094"/>
                </a:lnTo>
                <a:lnTo>
                  <a:pt x="8063091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46648" y="2531228"/>
            <a:ext cx="6822010" cy="4634178"/>
          </a:xfrm>
          <a:custGeom>
            <a:avLst/>
            <a:gdLst/>
            <a:ahLst/>
            <a:cxnLst/>
            <a:rect r="r" b="b" t="t" l="l"/>
            <a:pathLst>
              <a:path h="4634178" w="6822010">
                <a:moveTo>
                  <a:pt x="0" y="0"/>
                </a:moveTo>
                <a:lnTo>
                  <a:pt x="6822010" y="0"/>
                </a:lnTo>
                <a:lnTo>
                  <a:pt x="6822010" y="4634178"/>
                </a:lnTo>
                <a:lnTo>
                  <a:pt x="0" y="46341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415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2682884"/>
            <a:ext cx="10523675" cy="3756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569" indent="-203785" lvl="1">
              <a:lnSpc>
                <a:spcPts val="3020"/>
              </a:lnSpc>
              <a:spcBef>
                <a:spcPct val="0"/>
              </a:spcBef>
              <a:buFont typeface="Arial"/>
              <a:buChar char="•"/>
            </a:pPr>
            <a:r>
              <a:rPr lang="en-US" sz="1887" strike="noStrike" u="none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Zero labels needed → perfect for scarce annotated medical MRI data</a:t>
            </a:r>
          </a:p>
          <a:p>
            <a:pPr algn="l">
              <a:lnSpc>
                <a:spcPts val="3020"/>
              </a:lnSpc>
              <a:spcBef>
                <a:spcPct val="0"/>
              </a:spcBef>
            </a:pPr>
          </a:p>
          <a:p>
            <a:pPr algn="l" marL="407569" indent="-203785" lvl="1">
              <a:lnSpc>
                <a:spcPts val="3020"/>
              </a:lnSpc>
              <a:spcBef>
                <a:spcPct val="0"/>
              </a:spcBef>
              <a:buFont typeface="Arial"/>
              <a:buChar char="•"/>
            </a:pPr>
            <a:r>
              <a:rPr lang="en-US" sz="1887" strike="noStrike" u="none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No negative pairs → avoids sampling bias in highly imbalanced AD/CN datasets</a:t>
            </a:r>
          </a:p>
          <a:p>
            <a:pPr algn="l">
              <a:lnSpc>
                <a:spcPts val="3020"/>
              </a:lnSpc>
              <a:spcBef>
                <a:spcPct val="0"/>
              </a:spcBef>
            </a:pPr>
          </a:p>
          <a:p>
            <a:pPr algn="l" marL="407569" indent="-203785" lvl="1">
              <a:lnSpc>
                <a:spcPts val="3020"/>
              </a:lnSpc>
              <a:spcBef>
                <a:spcPct val="0"/>
              </a:spcBef>
              <a:buFont typeface="Arial"/>
              <a:buChar char="•"/>
            </a:pPr>
            <a:r>
              <a:rPr lang="en-US" sz="1887" strike="noStrike" u="none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Extremely simple &amp; lightweight → faster training, lower memory on 3D brain scans</a:t>
            </a:r>
          </a:p>
          <a:p>
            <a:pPr algn="l">
              <a:lnSpc>
                <a:spcPts val="3020"/>
              </a:lnSpc>
              <a:spcBef>
                <a:spcPct val="0"/>
              </a:spcBef>
            </a:pPr>
          </a:p>
          <a:p>
            <a:pPr algn="l" marL="407569" indent="-203785" lvl="1">
              <a:lnSpc>
                <a:spcPts val="3020"/>
              </a:lnSpc>
              <a:spcBef>
                <a:spcPct val="0"/>
              </a:spcBef>
              <a:buFont typeface="Arial"/>
              <a:buChar char="•"/>
            </a:pPr>
            <a:r>
              <a:rPr lang="en-US" sz="1887" strike="noStrike" u="none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Stop-gradient + predictor effectively prevents collapse → stable on similar normal (CN) MRIs</a:t>
            </a:r>
          </a:p>
          <a:p>
            <a:pPr algn="l">
              <a:lnSpc>
                <a:spcPts val="3020"/>
              </a:lnSpc>
              <a:spcBef>
                <a:spcPct val="0"/>
              </a:spcBef>
            </a:pPr>
          </a:p>
          <a:p>
            <a:pPr algn="l" marL="407569" indent="-203785" lvl="1">
              <a:lnSpc>
                <a:spcPts val="3020"/>
              </a:lnSpc>
              <a:spcBef>
                <a:spcPct val="0"/>
              </a:spcBef>
              <a:buFont typeface="Arial"/>
              <a:buChar char="•"/>
            </a:pPr>
            <a:r>
              <a:rPr lang="en-US" sz="1887" strike="noStrike" u="none">
                <a:solidFill>
                  <a:srgbClr val="202020"/>
                </a:solidFill>
                <a:latin typeface="Abril Fatface"/>
                <a:ea typeface="Abril Fatface"/>
                <a:cs typeface="Abril Fatface"/>
                <a:sym typeface="Abril Fatface"/>
              </a:rPr>
              <a:t>Matches or beats BYOL/SimCLR on medical imaging tasks with far less complexity</a:t>
            </a:r>
          </a:p>
          <a:p>
            <a:pPr algn="l">
              <a:lnSpc>
                <a:spcPts val="30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30669">
            <a:off x="-7419419" y="-10535929"/>
            <a:ext cx="18539921" cy="18539921"/>
          </a:xfrm>
          <a:custGeom>
            <a:avLst/>
            <a:gdLst/>
            <a:ahLst/>
            <a:cxnLst/>
            <a:rect r="r" b="b" t="t" l="l"/>
            <a:pathLst>
              <a:path h="18539921" w="18539921">
                <a:moveTo>
                  <a:pt x="0" y="0"/>
                </a:moveTo>
                <a:lnTo>
                  <a:pt x="18539921" y="0"/>
                </a:lnTo>
                <a:lnTo>
                  <a:pt x="18539921" y="18539921"/>
                </a:lnTo>
                <a:lnTo>
                  <a:pt x="0" y="185399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242519">
            <a:off x="-1042019" y="8240279"/>
            <a:ext cx="8063091" cy="6553094"/>
          </a:xfrm>
          <a:custGeom>
            <a:avLst/>
            <a:gdLst/>
            <a:ahLst/>
            <a:cxnLst/>
            <a:rect r="r" b="b" t="t" l="l"/>
            <a:pathLst>
              <a:path h="6553094" w="8063091">
                <a:moveTo>
                  <a:pt x="8063091" y="0"/>
                </a:moveTo>
                <a:lnTo>
                  <a:pt x="0" y="0"/>
                </a:lnTo>
                <a:lnTo>
                  <a:pt x="0" y="6553094"/>
                </a:lnTo>
                <a:lnTo>
                  <a:pt x="8063091" y="6553094"/>
                </a:lnTo>
                <a:lnTo>
                  <a:pt x="8063091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03920" y="822960"/>
            <a:ext cx="4413346" cy="2483311"/>
          </a:xfrm>
          <a:custGeom>
            <a:avLst/>
            <a:gdLst/>
            <a:ahLst/>
            <a:cxnLst/>
            <a:rect r="r" b="b" t="t" l="l"/>
            <a:pathLst>
              <a:path h="2483311" w="4413346">
                <a:moveTo>
                  <a:pt x="0" y="0"/>
                </a:moveTo>
                <a:lnTo>
                  <a:pt x="4413346" y="0"/>
                </a:lnTo>
                <a:lnTo>
                  <a:pt x="4413346" y="2483311"/>
                </a:lnTo>
                <a:lnTo>
                  <a:pt x="0" y="24833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33185" y="3716038"/>
            <a:ext cx="4754815" cy="3081935"/>
          </a:xfrm>
          <a:custGeom>
            <a:avLst/>
            <a:gdLst/>
            <a:ahLst/>
            <a:cxnLst/>
            <a:rect r="r" b="b" t="t" l="l"/>
            <a:pathLst>
              <a:path h="3081935" w="4754815">
                <a:moveTo>
                  <a:pt x="0" y="0"/>
                </a:moveTo>
                <a:lnTo>
                  <a:pt x="4754815" y="0"/>
                </a:lnTo>
                <a:lnTo>
                  <a:pt x="4754815" y="3081936"/>
                </a:lnTo>
                <a:lnTo>
                  <a:pt x="0" y="30819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38988" y="6992512"/>
            <a:ext cx="7949012" cy="2414512"/>
          </a:xfrm>
          <a:custGeom>
            <a:avLst/>
            <a:gdLst/>
            <a:ahLst/>
            <a:cxnLst/>
            <a:rect r="r" b="b" t="t" l="l"/>
            <a:pathLst>
              <a:path h="2414512" w="7949012">
                <a:moveTo>
                  <a:pt x="0" y="0"/>
                </a:moveTo>
                <a:lnTo>
                  <a:pt x="7949012" y="0"/>
                </a:lnTo>
                <a:lnTo>
                  <a:pt x="7949012" y="2414512"/>
                </a:lnTo>
                <a:lnTo>
                  <a:pt x="0" y="24145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222026" y="95250"/>
            <a:ext cx="14066721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>
                <a:solidFill>
                  <a:srgbClr val="004AAD"/>
                </a:solidFill>
                <a:latin typeface="Abril Fatface"/>
                <a:ea typeface="Abril Fatface"/>
                <a:cs typeface="Abril Fatface"/>
                <a:sym typeface="Abril Fatface"/>
              </a:rPr>
              <a:t>BARLOW TWINS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2142" y="2822874"/>
            <a:ext cx="9027008" cy="3975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2" indent="-215901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E2E2E"/>
                </a:solidFill>
                <a:latin typeface="Abril Fatface"/>
                <a:ea typeface="Abril Fatface"/>
                <a:cs typeface="Abril Fatface"/>
                <a:sym typeface="Abril Fatface"/>
              </a:rPr>
              <a:t>Barlow Twins: Self-supervised, no negative pairs</a:t>
            </a:r>
          </a:p>
          <a:p>
            <a:pPr algn="just">
              <a:lnSpc>
                <a:spcPts val="3200"/>
              </a:lnSpc>
            </a:pPr>
          </a:p>
          <a:p>
            <a:pPr algn="just" marL="431802" indent="-215901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E2E2E"/>
                </a:solidFill>
                <a:latin typeface="Abril Fatface"/>
                <a:ea typeface="Abril Fatface"/>
                <a:cs typeface="Abril Fatface"/>
                <a:sym typeface="Abril Fatface"/>
              </a:rPr>
              <a:t>Redundancy reduction via cross-correlation matrix</a:t>
            </a:r>
          </a:p>
          <a:p>
            <a:pPr algn="just">
              <a:lnSpc>
                <a:spcPts val="3200"/>
              </a:lnSpc>
            </a:pPr>
          </a:p>
          <a:p>
            <a:pPr algn="just" marL="431802" indent="-215901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E2E2E"/>
                </a:solidFill>
                <a:latin typeface="Abril Fatface"/>
                <a:ea typeface="Abril Fatface"/>
                <a:cs typeface="Abril Fatface"/>
                <a:sym typeface="Abril Fatface"/>
              </a:rPr>
              <a:t>Two augmented views → Siamese network (shared weights)</a:t>
            </a:r>
          </a:p>
          <a:p>
            <a:pPr algn="just">
              <a:lnSpc>
                <a:spcPts val="3200"/>
              </a:lnSpc>
            </a:pPr>
          </a:p>
          <a:p>
            <a:pPr algn="just" marL="431802" indent="-215901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E2E2E"/>
                </a:solidFill>
                <a:latin typeface="Abril Fatface"/>
                <a:ea typeface="Abril Fatface"/>
                <a:cs typeface="Abril Fatface"/>
                <a:sym typeface="Abril Fatface"/>
              </a:rPr>
              <a:t>Loss: Make correlation matrix close to identity</a:t>
            </a:r>
          </a:p>
          <a:p>
            <a:pPr algn="just">
              <a:lnSpc>
                <a:spcPts val="3200"/>
              </a:lnSpc>
            </a:pPr>
          </a:p>
          <a:p>
            <a:pPr algn="just" marL="431802" indent="-215901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E2E2E"/>
                </a:solidFill>
                <a:latin typeface="Abril Fatface"/>
                <a:ea typeface="Abril Fatface"/>
                <a:cs typeface="Abril Fatface"/>
                <a:sym typeface="Abril Fatface"/>
              </a:rPr>
              <a:t>Simple, collapse-free, momentum-free method</a:t>
            </a:r>
          </a:p>
          <a:p>
            <a:pPr algn="just">
              <a:lnSpc>
                <a:spcPts val="32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5421" y="2627872"/>
            <a:ext cx="8230818" cy="637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E2E2E"/>
                </a:solidFill>
                <a:latin typeface="Abril Fatface"/>
                <a:ea typeface="Abril Fatface"/>
                <a:cs typeface="Abril Fatface"/>
                <a:sym typeface="Abril Fatface"/>
              </a:rPr>
              <a:t>Barlow Twins: Self-supervised via redundancy reduction</a:t>
            </a:r>
          </a:p>
          <a:p>
            <a:pPr algn="l">
              <a:lnSpc>
                <a:spcPts val="3200"/>
              </a:lnSpc>
            </a:pPr>
          </a:p>
          <a:p>
            <a:pPr algn="l" marL="431802" indent="-215901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E2E2E"/>
                </a:solidFill>
                <a:latin typeface="Abril Fatface"/>
                <a:ea typeface="Abril Fatface"/>
                <a:cs typeface="Abril Fatface"/>
                <a:sym typeface="Abril Fatface"/>
              </a:rPr>
              <a:t>Two random augmentations of same image → twin branches</a:t>
            </a:r>
          </a:p>
          <a:p>
            <a:pPr algn="l">
              <a:lnSpc>
                <a:spcPts val="3200"/>
              </a:lnSpc>
            </a:pPr>
          </a:p>
          <a:p>
            <a:pPr algn="l" marL="431802" indent="-215901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E2E2E"/>
                </a:solidFill>
                <a:latin typeface="Abril Fatface"/>
                <a:ea typeface="Abril Fatface"/>
                <a:cs typeface="Abril Fatface"/>
                <a:sym typeface="Abril Fatface"/>
              </a:rPr>
              <a:t>Identical network with shared weights</a:t>
            </a:r>
          </a:p>
          <a:p>
            <a:pPr algn="l">
              <a:lnSpc>
                <a:spcPts val="3200"/>
              </a:lnSpc>
            </a:pPr>
          </a:p>
          <a:p>
            <a:pPr algn="l" marL="431802" indent="-215901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E2E2E"/>
                </a:solidFill>
                <a:latin typeface="Abril Fatface"/>
                <a:ea typeface="Abril Fatface"/>
                <a:cs typeface="Abril Fatface"/>
                <a:sym typeface="Abril Fatface"/>
              </a:rPr>
              <a:t>Outputs → cross-correlation matrix C (normalized)</a:t>
            </a:r>
          </a:p>
          <a:p>
            <a:pPr algn="l">
              <a:lnSpc>
                <a:spcPts val="3200"/>
              </a:lnSpc>
            </a:pPr>
          </a:p>
          <a:p>
            <a:pPr algn="l" marL="431802" indent="-215901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E2E2E"/>
                </a:solidFill>
                <a:latin typeface="Abril Fatface"/>
                <a:ea typeface="Abril Fatface"/>
                <a:cs typeface="Abril Fatface"/>
                <a:sym typeface="Abril Fatface"/>
              </a:rPr>
              <a:t>Loss = ∑(C_ii - 1)² + λ∑_{i≠j} C_ij²</a:t>
            </a:r>
          </a:p>
          <a:p>
            <a:pPr algn="l">
              <a:lnSpc>
                <a:spcPts val="3200"/>
              </a:lnSpc>
            </a:pPr>
          </a:p>
          <a:p>
            <a:pPr algn="l" marL="431802" indent="-215901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E2E2E"/>
                </a:solidFill>
                <a:latin typeface="Abril Fatface"/>
                <a:ea typeface="Abril Fatface"/>
                <a:cs typeface="Abril Fatface"/>
                <a:sym typeface="Abril Fatface"/>
              </a:rPr>
              <a:t>Forces on-diagonal=1, off-diagonal≈0 → decorrelated features</a:t>
            </a:r>
          </a:p>
          <a:p>
            <a:pPr algn="l">
              <a:lnSpc>
                <a:spcPts val="3200"/>
              </a:lnSpc>
            </a:pPr>
          </a:p>
          <a:p>
            <a:pPr algn="l" marL="431802" indent="-215901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E2E2E"/>
                </a:solidFill>
                <a:latin typeface="Abril Fatface"/>
                <a:ea typeface="Abril Fatface"/>
                <a:cs typeface="Abril Fatface"/>
                <a:sym typeface="Abril Fatface"/>
              </a:rPr>
              <a:t>No momentum, no negatives, no stop-gradient</a:t>
            </a:r>
          </a:p>
          <a:p>
            <a:pPr algn="l">
              <a:lnSpc>
                <a:spcPts val="3200"/>
              </a:lnSpc>
            </a:pPr>
          </a:p>
          <a:p>
            <a:pPr algn="l" marL="431802" indent="-215901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E2E2E"/>
                </a:solidFill>
                <a:latin typeface="Abril Fatface"/>
                <a:ea typeface="Abril Fatface"/>
                <a:cs typeface="Abril Fatface"/>
                <a:sym typeface="Abril Fatface"/>
              </a:rPr>
              <a:t>Highly robust &amp; simple pretraining method</a:t>
            </a:r>
          </a:p>
          <a:p>
            <a:pPr algn="l">
              <a:lnSpc>
                <a:spcPts val="320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true" flipV="false" rot="8243363">
            <a:off x="-1355616" y="7258999"/>
            <a:ext cx="8063091" cy="6553094"/>
          </a:xfrm>
          <a:custGeom>
            <a:avLst/>
            <a:gdLst/>
            <a:ahLst/>
            <a:cxnLst/>
            <a:rect r="r" b="b" t="t" l="l"/>
            <a:pathLst>
              <a:path h="6553094" w="8063091">
                <a:moveTo>
                  <a:pt x="8063091" y="0"/>
                </a:moveTo>
                <a:lnTo>
                  <a:pt x="0" y="0"/>
                </a:lnTo>
                <a:lnTo>
                  <a:pt x="0" y="6553094"/>
                </a:lnTo>
                <a:lnTo>
                  <a:pt x="8063091" y="6553094"/>
                </a:lnTo>
                <a:lnTo>
                  <a:pt x="8063091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53107" y="1028700"/>
            <a:ext cx="6027926" cy="5492948"/>
          </a:xfrm>
          <a:custGeom>
            <a:avLst/>
            <a:gdLst/>
            <a:ahLst/>
            <a:cxnLst/>
            <a:rect r="r" b="b" t="t" l="l"/>
            <a:pathLst>
              <a:path h="5492948" w="6027926">
                <a:moveTo>
                  <a:pt x="0" y="0"/>
                </a:moveTo>
                <a:lnTo>
                  <a:pt x="6027926" y="0"/>
                </a:lnTo>
                <a:lnTo>
                  <a:pt x="6027926" y="5492948"/>
                </a:lnTo>
                <a:lnTo>
                  <a:pt x="0" y="54929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22621" y="6859264"/>
            <a:ext cx="7448481" cy="1862120"/>
          </a:xfrm>
          <a:custGeom>
            <a:avLst/>
            <a:gdLst/>
            <a:ahLst/>
            <a:cxnLst/>
            <a:rect r="r" b="b" t="t" l="l"/>
            <a:pathLst>
              <a:path h="1862120" w="7448481">
                <a:moveTo>
                  <a:pt x="0" y="0"/>
                </a:moveTo>
                <a:lnTo>
                  <a:pt x="7448481" y="0"/>
                </a:lnTo>
                <a:lnTo>
                  <a:pt x="7448481" y="1862120"/>
                </a:lnTo>
                <a:lnTo>
                  <a:pt x="0" y="18621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75930" y="300990"/>
            <a:ext cx="16754355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>
                <a:solidFill>
                  <a:srgbClr val="004AAD"/>
                </a:solidFill>
                <a:latin typeface="Abril Fatface"/>
                <a:ea typeface="Abril Fatface"/>
                <a:cs typeface="Abril Fatface"/>
                <a:sym typeface="Abril Fatface"/>
              </a:rPr>
              <a:t>BARLOW TWINS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3987423">
            <a:off x="12625695" y="7261552"/>
            <a:ext cx="8063091" cy="6553094"/>
          </a:xfrm>
          <a:custGeom>
            <a:avLst/>
            <a:gdLst/>
            <a:ahLst/>
            <a:cxnLst/>
            <a:rect r="r" b="b" t="t" l="l"/>
            <a:pathLst>
              <a:path h="6553094" w="8063091">
                <a:moveTo>
                  <a:pt x="8063091" y="0"/>
                </a:moveTo>
                <a:lnTo>
                  <a:pt x="0" y="0"/>
                </a:lnTo>
                <a:lnTo>
                  <a:pt x="0" y="6553094"/>
                </a:lnTo>
                <a:lnTo>
                  <a:pt x="8063091" y="6553094"/>
                </a:lnTo>
                <a:lnTo>
                  <a:pt x="8063091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47844" y="1889965"/>
            <a:ext cx="10442767" cy="5644739"/>
          </a:xfrm>
          <a:custGeom>
            <a:avLst/>
            <a:gdLst/>
            <a:ahLst/>
            <a:cxnLst/>
            <a:rect r="r" b="b" t="t" l="l"/>
            <a:pathLst>
              <a:path h="5644739" w="10442767">
                <a:moveTo>
                  <a:pt x="0" y="0"/>
                </a:moveTo>
                <a:lnTo>
                  <a:pt x="10442768" y="0"/>
                </a:lnTo>
                <a:lnTo>
                  <a:pt x="10442768" y="5644739"/>
                </a:lnTo>
                <a:lnTo>
                  <a:pt x="0" y="56447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30560" y="438150"/>
            <a:ext cx="14417469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>
                <a:solidFill>
                  <a:srgbClr val="004AAD"/>
                </a:solidFill>
                <a:latin typeface="Abril Fatface"/>
                <a:ea typeface="Abril Fatface"/>
                <a:cs typeface="Abril Fatface"/>
                <a:sym typeface="Abril Fatface"/>
              </a:rPr>
              <a:t>WHY BARLOW TWINS?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9557" y="2026920"/>
            <a:ext cx="8115300" cy="530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3" indent="-205106" lvl="1">
              <a:lnSpc>
                <a:spcPts val="3040"/>
              </a:lnSpc>
              <a:buFont typeface="Arial"/>
              <a:buChar char="•"/>
            </a:pPr>
            <a:r>
              <a:rPr lang="en-US" sz="1900">
                <a:solidFill>
                  <a:srgbClr val="2E2E2E"/>
                </a:solidFill>
                <a:latin typeface="Abril Fatface"/>
                <a:ea typeface="Abril Fatface"/>
                <a:cs typeface="Abril Fatface"/>
                <a:sym typeface="Abril Fatface"/>
              </a:rPr>
              <a:t>No labels required → ideal for limited annotated brain MRI data</a:t>
            </a:r>
          </a:p>
          <a:p>
            <a:pPr algn="l">
              <a:lnSpc>
                <a:spcPts val="3040"/>
              </a:lnSpc>
            </a:pPr>
          </a:p>
          <a:p>
            <a:pPr algn="l" marL="410213" indent="-205106" lvl="1">
              <a:lnSpc>
                <a:spcPts val="3040"/>
              </a:lnSpc>
              <a:buFont typeface="Arial"/>
              <a:buChar char="•"/>
            </a:pPr>
            <a:r>
              <a:rPr lang="en-US" sz="1900">
                <a:solidFill>
                  <a:srgbClr val="2E2E2E"/>
                </a:solidFill>
                <a:latin typeface="Abril Fatface"/>
                <a:ea typeface="Abril Fatface"/>
                <a:cs typeface="Abril Fatface"/>
                <a:sym typeface="Abril Fatface"/>
              </a:rPr>
              <a:t>No negative pairs → eliminates sampling bias in highly imbalanced AD/CN classes</a:t>
            </a:r>
          </a:p>
          <a:p>
            <a:pPr algn="l">
              <a:lnSpc>
                <a:spcPts val="3040"/>
              </a:lnSpc>
            </a:pPr>
          </a:p>
          <a:p>
            <a:pPr algn="l" marL="410213" indent="-205106" lvl="1">
              <a:lnSpc>
                <a:spcPts val="3040"/>
              </a:lnSpc>
              <a:buFont typeface="Arial"/>
              <a:buChar char="•"/>
            </a:pPr>
            <a:r>
              <a:rPr lang="en-US" sz="1900">
                <a:solidFill>
                  <a:srgbClr val="2E2E2E"/>
                </a:solidFill>
                <a:latin typeface="Abril Fatface"/>
                <a:ea typeface="Abril Fatface"/>
                <a:cs typeface="Abril Fatface"/>
                <a:sym typeface="Abril Fatface"/>
              </a:rPr>
              <a:t>Redundancy reduction → learns decorrelated features robust to MRI intensity/contrast shifts</a:t>
            </a:r>
          </a:p>
          <a:p>
            <a:pPr algn="l">
              <a:lnSpc>
                <a:spcPts val="3040"/>
              </a:lnSpc>
            </a:pPr>
          </a:p>
          <a:p>
            <a:pPr algn="l" marL="410213" indent="-205106" lvl="1">
              <a:lnSpc>
                <a:spcPts val="3040"/>
              </a:lnSpc>
              <a:buFont typeface="Arial"/>
              <a:buChar char="•"/>
            </a:pPr>
            <a:r>
              <a:rPr lang="en-US" sz="1900">
                <a:solidFill>
                  <a:srgbClr val="2E2E2E"/>
                </a:solidFill>
                <a:latin typeface="Abril Fatface"/>
                <a:ea typeface="Abril Fatface"/>
                <a:cs typeface="Abril Fatface"/>
                <a:sym typeface="Abril Fatface"/>
              </a:rPr>
              <a:t>Zero momentum &amp; no predictor → simpler, faster, more stable training than BYOL/SimSiam</a:t>
            </a:r>
          </a:p>
          <a:p>
            <a:pPr algn="l">
              <a:lnSpc>
                <a:spcPts val="3040"/>
              </a:lnSpc>
            </a:pPr>
          </a:p>
          <a:p>
            <a:pPr algn="l" marL="410213" indent="-205106" lvl="1">
              <a:lnSpc>
                <a:spcPts val="3040"/>
              </a:lnSpc>
              <a:buFont typeface="Arial"/>
              <a:buChar char="•"/>
            </a:pPr>
            <a:r>
              <a:rPr lang="en-US" sz="1900">
                <a:solidFill>
                  <a:srgbClr val="2E2E2E"/>
                </a:solidFill>
                <a:latin typeface="Abril Fatface"/>
                <a:ea typeface="Abril Fatface"/>
                <a:cs typeface="Abril Fatface"/>
                <a:sym typeface="Abril Fatface"/>
              </a:rPr>
              <a:t>Proven stronger on medical imaging (MRI/CT) → higher linear probing &amp; few-shot accuracy</a:t>
            </a:r>
          </a:p>
          <a:p>
            <a:pPr algn="l">
              <a:lnSpc>
                <a:spcPts val="304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421"/>
            <a:ext cx="18288000" cy="10274157"/>
          </a:xfrm>
          <a:custGeom>
            <a:avLst/>
            <a:gdLst/>
            <a:ahLst/>
            <a:cxnLst/>
            <a:rect r="r" b="b" t="t" l="l"/>
            <a:pathLst>
              <a:path h="10274157" w="18288000">
                <a:moveTo>
                  <a:pt x="0" y="0"/>
                </a:moveTo>
                <a:lnTo>
                  <a:pt x="18288000" y="0"/>
                </a:lnTo>
                <a:lnTo>
                  <a:pt x="18288000" y="10274158"/>
                </a:lnTo>
                <a:lnTo>
                  <a:pt x="0" y="10274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DAG5ufNO1C0</dc:identifier>
  <dcterms:modified xsi:type="dcterms:W3CDTF">2011-08-01T06:04:30Z</dcterms:modified>
  <cp:revision>1</cp:revision>
  <dc:title>Modern and Minimal Company Profile Presentation</dc:title>
</cp:coreProperties>
</file>